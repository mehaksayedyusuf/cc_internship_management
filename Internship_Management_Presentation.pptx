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  <a:latin typeface="Arial"/>
              </a:defRPr>
            </a:pPr>
            <a:r>
              <a:t>INTERNSHIP MANAGEMENT SYSTEM</a:t>
            </a:r>
          </a:p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Build, Deploy &amp; Analyze a Containerized Microservice Application Under Varying Workloads</a:t>
            </a:r>
          </a:p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Cloud Computing Laboratory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FastAPI  |  Docker Compose  |  Locust  |  Resource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09160"/>
            <a:ext cx="228600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Vageesh Mathad</a:t>
            </a:r>
          </a:p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USN: 01FE24BCI008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709160"/>
            <a:ext cx="228600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Mehak Sayed Yusuf</a:t>
            </a:r>
          </a:p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USN: 01FE24BCI012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709160"/>
            <a:ext cx="228600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Joel Biju</a:t>
            </a:r>
          </a:p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USN: 01FE24BCI021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709160"/>
            <a:ext cx="228600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Akshay Bhat</a:t>
            </a:r>
          </a:p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USN: 01FE24BCI024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Aim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Aim</a:t>
            </a:r>
          </a:p>
          <a:p>
            <a:pPr>
              <a:defRPr sz="1350">
                <a:solidFill>
                  <a:srgbClr val="0F172A"/>
                </a:solidFill>
                <a:latin typeface="Arial"/>
              </a:defRPr>
            </a:pPr>
            <a:r>
              <a:t>To develop, containerize and deploy an Internship Management System using independent microservices, establish inter-service communication, and evaluate performance under varying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Objectives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Develop three independent core microservices.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Implement REST APIs for student, internship and application management.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Containerize the services using Docker.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Establish inter-service communication through Docker Compose networking.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Test the Application Service with 1, 2, 4, 8 and 16 concurrent users.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Measure response time, throughput, failed requests, CPU and memory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Microservices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3455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Student Service</a:t>
            </a:r>
          </a:p>
          <a:p>
            <a:pPr>
              <a:spcAft>
                <a:spcPts val="1200"/>
              </a:spcAft>
              <a:defRPr sz="1200">
                <a:solidFill>
                  <a:srgbClr val="2563EB"/>
                </a:solidFill>
                <a:latin typeface="Arial"/>
              </a:defRPr>
            </a:pPr>
            <a:r>
              <a:t>Port: 8002</a:t>
            </a:r>
            <a:br/>
            <a:r>
              <a:t>Database: students.db</a:t>
            </a:r>
          </a:p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Manages: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Student profiles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Student CRUD operations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Student information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13455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Internship Service</a:t>
            </a:r>
          </a:p>
          <a:p>
            <a:pPr>
              <a:spcAft>
                <a:spcPts val="1200"/>
              </a:spcAft>
              <a:defRPr sz="1200">
                <a:solidFill>
                  <a:srgbClr val="2563EB"/>
                </a:solidFill>
                <a:latin typeface="Arial"/>
              </a:defRPr>
            </a:pPr>
            <a:r>
              <a:t>Port: 8003</a:t>
            </a:r>
            <a:br/>
            <a:r>
              <a:t>Database: internships.db</a:t>
            </a:r>
          </a:p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Manages: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Internship postings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Internship details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Search/filter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Application Service</a:t>
            </a:r>
          </a:p>
          <a:p>
            <a:pPr>
              <a:spcAft>
                <a:spcPts val="1200"/>
              </a:spcAft>
              <a:defRPr sz="1200">
                <a:solidFill>
                  <a:srgbClr val="2563EB"/>
                </a:solidFill>
                <a:latin typeface="Arial"/>
              </a:defRPr>
            </a:pPr>
            <a:r>
              <a:t>Port: 8004</a:t>
            </a:r>
            <a:br/>
            <a:r>
              <a:t>Database: applications.db</a:t>
            </a:r>
          </a:p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Manages: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Internship applications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Application status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Inter-service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Supporting Service: Authentication Service — Port 8001 (auth.db | User registration &amp; Bcrypt login)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                          CLIENT (Web Dashboard / Locust)</a:t>
            </a:r>
            <a:br/>
            <a:r>
              <a:t>                                         |</a:t>
            </a:r>
            <a:br/>
            <a:r>
              <a:t>                                    REST Requests</a:t>
            </a:r>
            <a:br/>
            <a:r>
              <a:t>                                         |</a:t>
            </a:r>
            <a:br/>
            <a:r>
              <a:t>          ┌──────────────────────────────┴──────────────────────────────┐</a:t>
            </a:r>
            <a:br/>
            <a:r>
              <a:t>          │                     Docker Compose Network                  │</a:t>
            </a:r>
            <a:br/>
            <a:r>
              <a:t>          │                                                             │</a:t>
            </a:r>
            <a:br/>
            <a:r>
              <a:t>          │                   Application Service (:8000)               │</a:t>
            </a:r>
            <a:br/>
            <a:r>
              <a:t>          │                            /      \                         │</a:t>
            </a:r>
            <a:br/>
            <a:r>
              <a:t>          │                           /        \                        │</a:t>
            </a:r>
            <a:br/>
            <a:r>
              <a:t>          │                          ↓          ↓                       │</a:t>
            </a:r>
            <a:br/>
            <a:r>
              <a:t>          │                    Student        Internship                │</a:t>
            </a:r>
            <a:br/>
            <a:r>
              <a:t>          │                    Service        Service                   │</a:t>
            </a:r>
            <a:br/>
            <a:r>
              <a:t>          │                    (:8000)        (:8000)                   │</a:t>
            </a:r>
            <a:br/>
            <a:r>
              <a:t>          │                                                             │</a:t>
            </a:r>
            <a:br/>
            <a:r>
              <a:t>          │                 Authentication Service (:8000)              │</a:t>
            </a:r>
            <a:br/>
            <a:r>
              <a:t>          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  <a:latin typeface="Arial"/>
              </a:defRPr>
            </a:pPr>
            <a:r>
              <a:t>Host Ports: Auth: 8001 | Student: 8002 | Internship: 8003 | Application: 8004  (Internal container port: 8000)</a:t>
            </a:r>
          </a:p>
          <a:p>
            <a:pPr>
              <a:defRPr sz="1200">
                <a:solidFill>
                  <a:srgbClr val="2563EB"/>
                </a:solidFill>
                <a:latin typeface="Arial"/>
              </a:defRPr>
            </a:pPr>
            <a:r>
              <a:t>Important: All services communicate through the Docker Compose network via internal service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REST API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3474720"/>
                <a:gridCol w="3504895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Create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/students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List students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/students/{id}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Get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/students/{id}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Update 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/students/{id}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Delete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/internships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Create 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/internships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Search/list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/internships/{id}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Get 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/internships/{id}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Update internship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/internships/{id}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Delete internship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Submit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List 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/applications/{id}/status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Update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/applications/{id}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Withdraw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Docker Containerization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Containerization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Individual Dockerfile for each service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Python 3.12-slim base image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FastAPI + Uvicorn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Uvicorn listens on container port 8000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•  Independent service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Docker Compose</a:t>
            </a:r>
          </a:p>
          <a:p>
            <a:pPr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   docker compose up --build -d</a:t>
            </a:r>
            <a:br/>
            <a:r>
              <a:t>                ↓</a:t>
            </a:r>
            <a:br/>
            <a:r>
              <a:t>          Docker Compose</a:t>
            </a:r>
            <a:br/>
            <a:r>
              <a:t>                ↓</a:t>
            </a:r>
            <a:br/>
            <a:r>
              <a:t>     ┌──────────┼──────────┐</a:t>
            </a:r>
            <a:br/>
            <a:r>
              <a:t>     ↓          ↓          ↓</a:t>
            </a:r>
            <a:br/>
            <a:r>
              <a:t>   Student   Internship  Application</a:t>
            </a:r>
            <a:br/>
            <a:r>
              <a:t>   :8000       :8000       :8000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2356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Persistence: student_data  |  internship_data  |  application_data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Docker named volumes guarantee SQLite data persists safely across container teardowns and restarts.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Inter-Service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035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Synchronous Validation Protocol</a:t>
            </a:r>
          </a:p>
          <a:p>
            <a:pPr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POST /applications</a:t>
            </a:r>
            <a:br/>
            <a:r>
              <a:t>        |</a:t>
            </a:r>
            <a:br/>
            <a:r>
              <a:t>        ↓</a:t>
            </a:r>
            <a:br/>
            <a:r>
              <a:t>Application Service</a:t>
            </a:r>
            <a:br/>
            <a:r>
              <a:t>        |</a:t>
            </a:r>
            <a:br/>
            <a:r>
              <a:t>        ├──→ GET http://student:8000/students/{id}</a:t>
            </a:r>
            <a:br/>
            <a:r>
              <a:t>        |             ↓</a:t>
            </a:r>
            <a:br/>
            <a:r>
              <a:t>        |       Student Service</a:t>
            </a:r>
            <a:br/>
            <a:r>
              <a:t>        |</a:t>
            </a:r>
            <a:br/>
            <a:r>
              <a:t>        └──→ GET http://internship:8000/internships/{id}</a:t>
            </a:r>
            <a:br/>
            <a:r>
              <a:t>                      ↓</a:t>
            </a:r>
            <a:br/>
            <a:r>
              <a:t>                Internship Service</a:t>
            </a:r>
            <a:br/>
            <a:r>
              <a:t>                      |</a:t>
            </a:r>
            <a:br/>
            <a:r>
              <a:t>                      ↓</a:t>
            </a:r>
            <a:br/>
            <a:r>
              <a:t>              Application Created</a:t>
            </a:r>
            <a:br/>
            <a:r>
              <a:t>                (HTTP 200 OK)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371600"/>
            <a:ext cx="4389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60020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Why student:8000 &amp; internship:8000?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Docker Compose provides internal DNS, so services communicate using service names instead of container IP addresses.</a:t>
            </a:r>
          </a:p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Failure Handling Flow: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Invalid Student</a:t>
            </a:r>
            <a:br/>
            <a:r>
              <a:t>      ↓</a:t>
            </a:r>
            <a:br/>
            <a:r>
              <a:t>Student Service → 404</a:t>
            </a:r>
            <a:br/>
            <a:r>
              <a:t>      ↓</a:t>
            </a:r>
            <a:br/>
            <a:r>
              <a:t>Application NOT created</a:t>
            </a:r>
          </a:p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• Successful application creation returns HTTP 200 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Workload Testing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Tool: Locust   |   Target: Application Service   |   Host: localhost:8004</a:t>
            </a:r>
          </a:p>
          <a:p>
            <a:pPr>
              <a:defRPr sz="1250">
                <a:solidFill>
                  <a:srgbClr val="0F172A"/>
                </a:solidFill>
                <a:latin typeface="Arial"/>
              </a:defRPr>
            </a:pPr>
            <a:r>
              <a:t>Docker stats was used to monitor container resource utilization during workload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8655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WORKLOAD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154680"/>
            <a:ext cx="18288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W1</a:t>
            </a:r>
          </a:p>
          <a:p>
            <a:pPr algn="ctr">
              <a:defRPr sz="1200">
                <a:solidFill>
                  <a:srgbClr val="0F172A"/>
                </a:solidFill>
                <a:latin typeface="Arial"/>
              </a:defRPr>
            </a:pPr>
            <a:r>
              <a:t>1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154680"/>
            <a:ext cx="18288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W2</a:t>
            </a:r>
          </a:p>
          <a:p>
            <a:pPr algn="ctr">
              <a:defRPr sz="1200">
                <a:solidFill>
                  <a:srgbClr val="0F172A"/>
                </a:solidFill>
                <a:latin typeface="Arial"/>
              </a:defRPr>
            </a:pPr>
            <a:r>
              <a:t>2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154680"/>
            <a:ext cx="18288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W3</a:t>
            </a:r>
          </a:p>
          <a:p>
            <a:pPr algn="ctr">
              <a:defRPr sz="1200">
                <a:solidFill>
                  <a:srgbClr val="0F172A"/>
                </a:solidFill>
                <a:latin typeface="Arial"/>
              </a:defRPr>
            </a:pPr>
            <a:r>
              <a:t>4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154680"/>
            <a:ext cx="18288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W4</a:t>
            </a:r>
          </a:p>
          <a:p>
            <a:pPr algn="ctr">
              <a:defRPr sz="1200">
                <a:solidFill>
                  <a:srgbClr val="0F172A"/>
                </a:solidFill>
                <a:latin typeface="Arial"/>
              </a:defRPr>
            </a:pPr>
            <a:r>
              <a:t>8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154680"/>
            <a:ext cx="18288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W5</a:t>
            </a:r>
          </a:p>
          <a:p>
            <a:pPr algn="ctr">
              <a:defRPr sz="1200">
                <a:solidFill>
                  <a:srgbClr val="0F172A"/>
                </a:solidFill>
                <a:latin typeface="Arial"/>
              </a:defRPr>
            </a:pPr>
            <a:r>
              <a:t>16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Metrics Recorded</a:t>
            </a:r>
          </a:p>
          <a:p>
            <a:pPr>
              <a:spcAft>
                <a:spcPts val="300"/>
              </a:spcAft>
              <a:defRPr sz="1250">
                <a:solidFill>
                  <a:srgbClr val="475569"/>
                </a:solidFill>
                <a:latin typeface="Arial"/>
              </a:defRPr>
            </a:pPr>
            <a:r>
              <a:t>•  Average Response Time</a:t>
            </a:r>
          </a:p>
          <a:p>
            <a:pPr>
              <a:spcAft>
                <a:spcPts val="300"/>
              </a:spcAft>
              <a:defRPr sz="1250">
                <a:solidFill>
                  <a:srgbClr val="475569"/>
                </a:solidFill>
                <a:latin typeface="Arial"/>
              </a:defRPr>
            </a:pPr>
            <a:r>
              <a:t>•  Throughput (RPS)</a:t>
            </a:r>
          </a:p>
          <a:p>
            <a:pPr>
              <a:spcAft>
                <a:spcPts val="300"/>
              </a:spcAft>
              <a:defRPr sz="1250">
                <a:solidFill>
                  <a:srgbClr val="475569"/>
                </a:solidFill>
                <a:latin typeface="Arial"/>
              </a:defRPr>
            </a:pPr>
            <a:r>
              <a:t>•  Failed Requests</a:t>
            </a:r>
          </a:p>
          <a:p>
            <a:pPr>
              <a:spcAft>
                <a:spcPts val="300"/>
              </a:spcAft>
              <a:defRPr sz="1250">
                <a:solidFill>
                  <a:srgbClr val="475569"/>
                </a:solidFill>
                <a:latin typeface="Arial"/>
              </a:defRPr>
            </a:pPr>
            <a:r>
              <a:t>•  CPU Utilization</a:t>
            </a:r>
          </a:p>
          <a:p>
            <a:pPr>
              <a:spcAft>
                <a:spcPts val="300"/>
              </a:spcAft>
              <a:defRPr sz="1250">
                <a:solidFill>
                  <a:srgbClr val="475569"/>
                </a:solidFill>
                <a:latin typeface="Arial"/>
              </a:defRPr>
            </a:pPr>
            <a:r>
              <a:t>•  Memory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Performance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560320"/>
                <a:gridCol w="2560320"/>
                <a:gridCol w="2133295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 Response Time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Failures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10.28 ms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3.2 RPS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* W1 represents actual measured baseline values. Remaining workload rows are populated as evaluations proceed.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Resource Utilization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91840"/>
                <a:gridCol w="3322015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53.77 MiB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55.21 MiB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54.64 MiB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59.06 MiB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* Measured via docker stats under baseline workload W1 (1 concurrent user). Remaining workload tests W2–W5 follow the same profiling methodology.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Graph 1: Concurrent Users vs Average Response Time</a:t>
            </a:r>
          </a:p>
        </p:txBody>
      </p:sp>
      <p:pic>
        <p:nvPicPr>
          <p:cNvPr id="6" name="Picture 5" descr="1_response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846320" cy="1554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37160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Graph 2: Concurrent Users vs Throughput</a:t>
            </a:r>
          </a:p>
        </p:txBody>
      </p:sp>
      <p:pic>
        <p:nvPicPr>
          <p:cNvPr id="9" name="Picture 8" descr="2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846320" cy="1554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356616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Graph 3: Concurrent Users vs CPU Utilization</a:t>
            </a:r>
          </a:p>
        </p:txBody>
      </p:sp>
      <p:pic>
        <p:nvPicPr>
          <p:cNvPr id="12" name="Picture 11" descr="3_cpu_ut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7640"/>
            <a:ext cx="4846320" cy="1554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356616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Graph 4: Concurrent Users vs Memory Usage</a:t>
            </a:r>
          </a:p>
        </p:txBody>
      </p:sp>
      <p:pic>
        <p:nvPicPr>
          <p:cNvPr id="15" name="Picture 14" descr="4_memory_utiliz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977640"/>
            <a:ext cx="4846320" cy="1554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760720"/>
            <a:ext cx="10728655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5216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Observed Behaviour: Response time, throughput and resource utilization were compared across increasing concurrent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CLOUD COMPUTING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Project Demonstrates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Independent microservices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RESTful APIs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Docker containerization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Docker Compose orchestration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Docker-network service discovery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Inter-service validation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Locust workload testing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t>✔  CPU and memory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Live Demo Flow</a:t>
            </a:r>
          </a:p>
          <a:p>
            <a:pPr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   Docker Compose</a:t>
            </a:r>
            <a:br/>
            <a:r>
              <a:t>         ↓</a:t>
            </a:r>
            <a:br/>
            <a:r>
              <a:t>   Verify Containers</a:t>
            </a:r>
            <a:br/>
            <a:r>
              <a:t>         ↓</a:t>
            </a:r>
            <a:br/>
            <a:r>
              <a:t>   Verify Docker Network</a:t>
            </a:r>
            <a:br/>
            <a:r>
              <a:t>         ↓</a:t>
            </a:r>
            <a:br/>
            <a:r>
              <a:t>   Create Student</a:t>
            </a:r>
            <a:br/>
            <a:r>
              <a:t>         ↓</a:t>
            </a:r>
            <a:br/>
            <a:r>
              <a:t>   Create Internship</a:t>
            </a:r>
            <a:br/>
            <a:r>
              <a:t>         ↓</a:t>
            </a:r>
            <a:br/>
            <a:r>
              <a:t>   Submit Application</a:t>
            </a:r>
            <a:br/>
            <a:r>
              <a:t>         ↓</a:t>
            </a:r>
            <a:br/>
            <a:r>
              <a:t>   Show Inter-Service Validation</a:t>
            </a:r>
            <a:br/>
            <a:r>
              <a:t>         ↓</a:t>
            </a:r>
            <a:br/>
            <a:r>
              <a:t>   Run Locust</a:t>
            </a:r>
            <a:br/>
            <a:r>
              <a:t>         ↓</a:t>
            </a:r>
            <a:br/>
            <a:r>
              <a:t>   Show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