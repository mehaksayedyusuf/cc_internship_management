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CLOUD COMPUTING LABORATORY (EXPERIMENT EVALUATION)</a:t>
            </a:r>
          </a:p>
          <a:p>
            <a:pPr>
              <a:spcAft>
                <a:spcPts val="800"/>
              </a:spcAft>
              <a:defRPr sz="2400" b="1">
                <a:solidFill>
                  <a:srgbClr val="111827"/>
                </a:solidFill>
                <a:latin typeface="Arial"/>
              </a:defRPr>
            </a:pPr>
            <a:r>
              <a:t>Build, Deploy &amp; Analyze a Containerized Microservice Application Under Varying Workloads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Domain: Internship Management System | FastAPI • Docker Compose • Locust • Resource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22860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1827"/>
                </a:solidFill>
                <a:latin typeface="Arial"/>
              </a:defRPr>
            </a:pPr>
            <a:r>
              <a:t>Vageesh Mathad</a:t>
            </a:r>
          </a:p>
          <a:p>
            <a:pPr algn="ctr">
              <a:defRPr sz="1200">
                <a:solidFill>
                  <a:srgbClr val="2563EB"/>
                </a:solidFill>
                <a:latin typeface="Arial"/>
              </a:defRPr>
            </a:pPr>
            <a:r>
              <a:t>USN: 01FE24BCI008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572000"/>
            <a:ext cx="22860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1827"/>
                </a:solidFill>
                <a:latin typeface="Arial"/>
              </a:defRPr>
            </a:pPr>
            <a:r>
              <a:t>Mehak Sayed Yusuf</a:t>
            </a:r>
          </a:p>
          <a:p>
            <a:pPr algn="ctr">
              <a:defRPr sz="1200">
                <a:solidFill>
                  <a:srgbClr val="2563EB"/>
                </a:solidFill>
                <a:latin typeface="Arial"/>
              </a:defRPr>
            </a:pPr>
            <a:r>
              <a:t>USN: 01FE24BCI012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572000"/>
            <a:ext cx="22860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1827"/>
                </a:solidFill>
                <a:latin typeface="Arial"/>
              </a:defRPr>
            </a:pPr>
            <a:r>
              <a:t>Joel Biju</a:t>
            </a:r>
          </a:p>
          <a:p>
            <a:pPr algn="ctr">
              <a:defRPr sz="1200">
                <a:solidFill>
                  <a:srgbClr val="2563EB"/>
                </a:solidFill>
                <a:latin typeface="Arial"/>
              </a:defRPr>
            </a:pPr>
            <a:r>
              <a:t>USN: 01FE24BCI021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4572000"/>
            <a:ext cx="22860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11827"/>
                </a:solidFill>
                <a:latin typeface="Arial"/>
              </a:defRPr>
            </a:pPr>
            <a:r>
              <a:t>Akshay Bhat</a:t>
            </a:r>
          </a:p>
          <a:p>
            <a:pPr algn="ctr">
              <a:defRPr sz="1200">
                <a:solidFill>
                  <a:srgbClr val="2563EB"/>
                </a:solidFill>
                <a:latin typeface="Arial"/>
              </a:defRPr>
            </a:pPr>
            <a:r>
              <a:t>USN: 01FE24BCI024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CHECKPOINT 1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Aim, Domain &amp; Experiment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Experiment Aim &amp; Domain</a:t>
            </a:r>
          </a:p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• Domain: </a:t>
            </a:r>
            <a:r>
              <a:rPr b="0">
                <a:solidFill>
                  <a:srgbClr val="111827"/>
                </a:solidFill>
              </a:rPr>
              <a:t>Internship Management System for academic placements.</a:t>
            </a:r>
          </a:p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• Core Goal: </a:t>
            </a:r>
            <a:r>
              <a:rPr b="0">
                <a:solidFill>
                  <a:srgbClr val="111827"/>
                </a:solidFill>
              </a:rPr>
              <a:t>Develop exactly 3 independent microservices, containerize with Docker, establish inter-service communication, generate varying workloads, and profile performance.</a:t>
            </a:r>
          </a:p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• Microservice Principle: </a:t>
            </a:r>
            <a:r>
              <a:rPr b="0">
                <a:solidFill>
                  <a:srgbClr val="111827"/>
                </a:solidFill>
              </a:rPr>
              <a:t>Loose coupling, high cohesion, independent database per service, and stateless REST endpoints.</a:t>
            </a:r>
          </a:p>
          <a:p>
            <a:pPr>
              <a:spcAft>
                <a:spcPts val="800"/>
              </a:spcAft>
              <a:defRPr b="1" sz="1300">
                <a:solidFill>
                  <a:srgbClr val="2563EB"/>
                </a:solidFill>
              </a:defRPr>
            </a:pPr>
            <a:r>
              <a:t>• Evaluator Requirement: </a:t>
            </a:r>
            <a:r>
              <a:rPr b="0">
                <a:solidFill>
                  <a:srgbClr val="111827"/>
                </a:solidFill>
              </a:rPr>
              <a:t>Fulfill all 5 mandatory checkpoints with real measured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Three Independent Microservices</a:t>
            </a:r>
          </a:p>
          <a:p>
            <a:pPr>
              <a:defRPr b="1" sz="1400">
                <a:solidFill>
                  <a:srgbClr val="111827"/>
                </a:solidFill>
              </a:defRPr>
            </a:pPr>
            <a:r>
              <a:t>1. Student Service (:8002)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Database: students.db | Maintains student profiles (name, email, department, year). Validates academic eligibility.</a:t>
            </a:r>
          </a:p>
          <a:p>
            <a:pPr>
              <a:defRPr b="1" sz="1400">
                <a:solidFill>
                  <a:srgbClr val="111827"/>
                </a:solidFill>
              </a:defRPr>
            </a:pPr>
            <a:r>
              <a:t>2. Internship Service (:8003)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Database: internships.db | Stores internship job postings, requirements, stipends, and keyword search filters.</a:t>
            </a:r>
          </a:p>
          <a:p>
            <a:pPr>
              <a:defRPr b="1" sz="1400">
                <a:solidFill>
                  <a:srgbClr val="111827"/>
                </a:solidFill>
              </a:defRPr>
            </a:pPr>
            <a:r>
              <a:t>3. Application Service (:8004)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Database: applications.db | Orchestrates application workflow, coordinates inter-service validation, and tracks review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CHECKPOINT 1 — DETAILED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Architecture &amp; REST API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MINIMUM ARCHITECTURE: Client → Service 1 → Service 2 / Service 3</a:t>
            </a:r>
          </a:p>
          <a:p>
            <a:pPr>
              <a:defRPr sz="1100">
                <a:solidFill>
                  <a:srgbClr val="111827"/>
                </a:solidFill>
                <a:latin typeface="Courier New"/>
              </a:defRPr>
            </a:pPr>
            <a:r>
              <a:t>Client (Web Dashboard / Locust / cURL)  ──►  Application Service (Port 8004)</a:t>
            </a:r>
            <a:br/>
            <a:r>
              <a:t>                                                                     ├──► Student Service (Port 8002) [Validates Student ID]</a:t>
            </a:r>
            <a:br/>
            <a:r>
              <a:t>                                                                     └──► Internship Service (Port 8003) [Validates Internship ID]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4134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11827"/>
                </a:solidFill>
                <a:latin typeface="Arial"/>
              </a:defRPr>
            </a:pPr>
            <a:r>
              <a:t>Student Service (:8002)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POST /students (Create)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GET /students (List all)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GET /students/{id} (Fetch details)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PUT /students/{id} (Update)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DELETE /students/{id} (Remove)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34134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11827"/>
                </a:solidFill>
                <a:latin typeface="Arial"/>
              </a:defRPr>
            </a:pPr>
            <a:r>
              <a:t>Internship Service (:8003)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POST /internships (Create posting)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GET /internships (Search &amp; filter)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GET /internships/{id} (Fetch details)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PUT /internships/{id} (Update details)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DELETE /internships/{id} (Delete)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74720"/>
            <a:ext cx="34134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11827"/>
                </a:solidFill>
                <a:latin typeface="Arial"/>
              </a:defRPr>
            </a:pPr>
            <a:r>
              <a:t>Application Service (:8004)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POST /applications (Submit application)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GET /applications (List applications)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PATCH /applications/{id}/status (Accept/Reject)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DELETE /applications/{id} (Withdraw)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</a:defRPr>
            </a:pPr>
            <a:r>
              <a:t>• Inter-Service Validation on Submit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CHECKPOINT 2 — DOCKER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Docker Containerization &amp; Multi-Container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Microservice Containerization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Base Image: </a:t>
            </a:r>
            <a:r>
              <a:rPr b="0">
                <a:solidFill>
                  <a:srgbClr val="111827"/>
                </a:solidFill>
              </a:rPr>
              <a:t>python:3.12-slim (minimal footprint ~280MB).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Isolated Dependencies: </a:t>
            </a:r>
            <a:r>
              <a:rPr b="0">
                <a:solidFill>
                  <a:srgbClr val="111827"/>
                </a:solidFill>
              </a:rPr>
              <a:t>Each service packages its own requirements.txt (FastAPI, uvicorn, sqlalchemy, requests).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Execution: </a:t>
            </a:r>
            <a:r>
              <a:rPr b="0">
                <a:solidFill>
                  <a:srgbClr val="111827"/>
                </a:solidFill>
              </a:rPr>
              <a:t>Uvicorn ASGI server bound to 0.0.0.0:8000 inside each container.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Build Process: </a:t>
            </a:r>
            <a:r>
              <a:rPr b="0">
                <a:solidFill>
                  <a:srgbClr val="111827"/>
                </a:solidFill>
              </a:rPr>
              <a:t>Three distinct images: student-service:latest, internship-service:latest, application-service:latest.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Port Isolation: </a:t>
            </a:r>
            <a:r>
              <a:rPr b="0">
                <a:solidFill>
                  <a:srgbClr val="111827"/>
                </a:solidFill>
              </a:rPr>
              <a:t>Internal port 8000 mapped to host ports 8002, 8003, 8004.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Docker Compose Orchestration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Single Command Deploy: </a:t>
            </a:r>
            <a:r>
              <a:rPr b="0">
                <a:solidFill>
                  <a:srgbClr val="111827"/>
                </a:solidFill>
              </a:rPr>
              <a:t>docker compose up --build -d starts all microservices + Nginx frontend.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Named Volumes Persistence: </a:t>
            </a:r>
            <a:r>
              <a:rPr b="0">
                <a:solidFill>
                  <a:srgbClr val="111827"/>
                </a:solidFill>
              </a:rPr>
              <a:t>student_data, internship_data, application_data preserve SQLite data across container teardowns.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Service Dependency: </a:t>
            </a:r>
            <a:r>
              <a:rPr b="0">
                <a:solidFill>
                  <a:srgbClr val="111827"/>
                </a:solidFill>
              </a:rPr>
              <a:t>application depends_on student and internship to ensure correct startup order.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Automatic Network: </a:t>
            </a:r>
            <a:r>
              <a:rPr b="0">
                <a:solidFill>
                  <a:srgbClr val="111827"/>
                </a:solidFill>
              </a:rPr>
              <a:t>Creates default bridge network enabling container DNS resolution.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Zero Downtime Scaling: </a:t>
            </a:r>
            <a:r>
              <a:rPr b="0">
                <a:solidFill>
                  <a:srgbClr val="111827"/>
                </a:solidFill>
              </a:rPr>
              <a:t>Services run as isolated processes without port conflicts.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CHECKPOINT 3 — SERVICE-TO-SERVICE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Establishing &amp; Demonstrating Inter-Service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How Microservices Communicate (Docker Network Service Discovery)</a:t>
            </a:r>
          </a:p>
          <a:p>
            <a:pPr>
              <a:spcAft>
                <a:spcPts val="1400"/>
              </a:spcAft>
              <a:defRPr sz="1300">
                <a:solidFill>
                  <a:srgbClr val="64748B"/>
                </a:solidFill>
              </a:defRPr>
            </a:pPr>
            <a:r>
              <a:t>Instead of hardcoded host IP addresses, Application Service utilizes Docker's built-in DNS to reach target services by service name:</a:t>
            </a:r>
            <a:br/>
            <a:r>
              <a:t>• Student URL: http://student:8000/students/{id}</a:t>
            </a:r>
            <a:br/>
            <a:r>
              <a:t>• Internship URL: http://internship:8000/internships/{id}</a:t>
            </a:r>
          </a:p>
          <a:p>
            <a:pPr>
              <a:spcAft>
                <a:spcPts val="600"/>
              </a:spcAft>
              <a:defRPr sz="1500" b="1">
                <a:solidFill>
                  <a:srgbClr val="111827"/>
                </a:solidFill>
                <a:latin typeface="Arial"/>
              </a:defRPr>
            </a:pPr>
            <a:r>
              <a:t>Validation &amp; End-to-End Request Demonstration Flow:</a:t>
            </a:r>
          </a:p>
          <a:p>
            <a:pPr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• Step 1: Application Submission: </a:t>
            </a:r>
            <a:r>
              <a:rPr b="0">
                <a:solidFill>
                  <a:srgbClr val="111827"/>
                </a:solidFill>
              </a:rPr>
              <a:t>Client issues POST /applications with student_id and internship_id.</a:t>
            </a:r>
          </a:p>
          <a:p>
            <a:pPr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• Step 2: Student Existence Check: </a:t>
            </a:r>
            <a:r>
              <a:rPr b="0">
                <a:solidFill>
                  <a:srgbClr val="111827"/>
                </a:solidFill>
              </a:rPr>
              <a:t>Application Service sends HTTP GET to http://student:8000/students/{student_id}.</a:t>
            </a:r>
          </a:p>
          <a:p>
            <a:pPr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• Step 3: Internship Existence Check: </a:t>
            </a:r>
            <a:r>
              <a:rPr b="0">
                <a:solidFill>
                  <a:srgbClr val="111827"/>
                </a:solidFill>
              </a:rPr>
              <a:t>Application Service sends HTTP GET to http://internship:8000/internships/{internship_id}.</a:t>
            </a:r>
          </a:p>
          <a:p>
            <a:pPr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• Step 4: Error Handling &amp; Failure Case: </a:t>
            </a:r>
            <a:r>
              <a:rPr b="0">
                <a:solidFill>
                  <a:srgbClr val="111827"/>
                </a:solidFill>
              </a:rPr>
              <a:t>If student does NOT exist, Student Service responds 404. Application Service immediately returns HTTP 404: 'Student 99999 not found' without saving orphan data.</a:t>
            </a:r>
          </a:p>
          <a:p>
            <a:pPr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• Step 5: Successful State Transition: </a:t>
            </a:r>
            <a:r>
              <a:rPr b="0">
                <a:solidFill>
                  <a:srgbClr val="111827"/>
                </a:solidFill>
              </a:rPr>
              <a:t>If both entities exist, Application Service records the row in applications.db and returns HTTP 201 Created.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CHECKPOINT 4 — LOAD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Varying Workload Testing &amp; Observation Table (W1 - W5)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Load Testing Tool: Locust | Metrics Monitored: Response Time, Throughput (RPS), Failures, CPU %, Memory (MB)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2011680"/>
                <a:gridCol w="1645920"/>
                <a:gridCol w="1188720"/>
                <a:gridCol w="1463040"/>
                <a:gridCol w="1584655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Workload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Concurrency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 Response Time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Throughput (RPS)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Failures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CPU Utilization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Memory Usage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8.0 – 10.5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3.1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1.0 – 2.1 %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53 – 55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2 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9.0 – 10.5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5.8 – 6.9 RPS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2.5 – 3.0 %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54 – 55 MB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4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9.1 – 10.3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11.6 – 13.6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4.9 – 5.5 %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54 – 55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8 Users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9.4 – 11.2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25.6 – 26.4 RPS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3.9 – 11.1 %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55.0 MB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16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10.4 – 11.7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50.4 – 50.8 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3.9 – 19.2 %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54 – 56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CHECKPOINT 5 — VISUAL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Benchmark Graphs &amp; Performance Analysis</a:t>
            </a:r>
          </a:p>
        </p:txBody>
      </p:sp>
      <p:pic>
        <p:nvPicPr>
          <p:cNvPr id="4" name="Picture 3" descr="1_response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2286000"/>
          </a:xfrm>
          <a:prstGeom prst="rect">
            <a:avLst/>
          </a:prstGeom>
        </p:spPr>
      </p:pic>
      <p:pic>
        <p:nvPicPr>
          <p:cNvPr id="5" name="Picture 4" descr="2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120640" cy="2286000"/>
          </a:xfrm>
          <a:prstGeom prst="rect">
            <a:avLst/>
          </a:prstGeom>
        </p:spPr>
      </p:pic>
      <p:pic>
        <p:nvPicPr>
          <p:cNvPr id="6" name="Picture 5" descr="3_cpu_utiliz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5120640" cy="2286000"/>
          </a:xfrm>
          <a:prstGeom prst="rect">
            <a:avLst/>
          </a:prstGeom>
        </p:spPr>
      </p:pic>
      <p:pic>
        <p:nvPicPr>
          <p:cNvPr id="7" name="Picture 6" descr="4_memory_utiliz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14800"/>
            <a:ext cx="512064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EXPERIMENT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rial"/>
              </a:defRPr>
            </a:pPr>
            <a:r>
              <a:t>Key Insights, Viva Conclusions &amp; Final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Workload &amp; Resource Analysis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Throughput Scaling: </a:t>
            </a:r>
            <a:r>
              <a:rPr b="0">
                <a:solidFill>
                  <a:srgbClr val="111827"/>
                </a:solidFill>
              </a:rPr>
              <a:t>Linear scaling from 3.1 RPS (1 user) to 50.8 RPS (16 users). No bottleneck reached.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Response Time Stability: </a:t>
            </a:r>
            <a:r>
              <a:rPr b="0">
                <a:solidFill>
                  <a:srgbClr val="111827"/>
                </a:solidFill>
              </a:rPr>
              <a:t>Latency remained tightly bound between 8.0ms and 11.7ms. Zero request failures recorded.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Resource Utilization: </a:t>
            </a:r>
            <a:r>
              <a:rPr b="0">
                <a:solidFill>
                  <a:srgbClr val="111827"/>
                </a:solidFill>
              </a:rPr>
              <a:t>Internship and Application services consume slightly more CPU (~19% and ~16%) due to filtering and inter-service HTTP calls.</a:t>
            </a:r>
          </a:p>
          <a:p>
            <a:pPr>
              <a:spcAft>
                <a:spcPts val="600"/>
              </a:spcAft>
              <a:defRPr b="1" sz="1300">
                <a:solidFill>
                  <a:srgbClr val="2563EB"/>
                </a:solidFill>
              </a:defRPr>
            </a:pPr>
            <a:r>
              <a:t>• Memory Footprint: </a:t>
            </a:r>
            <a:r>
              <a:rPr b="0">
                <a:solidFill>
                  <a:srgbClr val="111827"/>
                </a:solidFill>
              </a:rPr>
              <a:t>Memory remained constant around 54–56 MB across all containers thanks to Python connection pooling and lightweight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11827"/>
                </a:solidFill>
                <a:latin typeface="Arial"/>
              </a:defRPr>
            </a:pPr>
            <a:r>
              <a:t>Student Deliverables Checklist</a:t>
            </a:r>
          </a:p>
          <a:p>
            <a:pPr>
              <a:spcAft>
                <a:spcPts val="600"/>
              </a:spcAft>
              <a:defRPr b="1" sz="1300">
                <a:solidFill>
                  <a:srgbClr val="16A34A"/>
                </a:solidFill>
              </a:defRPr>
            </a:pPr>
            <a:r>
              <a:t>✔ 3 Microservice Codebases: </a:t>
            </a:r>
            <a:r>
              <a:rPr b="0">
                <a:solidFill>
                  <a:srgbClr val="111827"/>
                </a:solidFill>
              </a:rPr>
              <a:t>student, internship, application with independent models.</a:t>
            </a:r>
          </a:p>
          <a:p>
            <a:pPr>
              <a:spcAft>
                <a:spcPts val="600"/>
              </a:spcAft>
              <a:defRPr b="1" sz="1300">
                <a:solidFill>
                  <a:srgbClr val="16A34A"/>
                </a:solidFill>
              </a:defRPr>
            </a:pPr>
            <a:r>
              <a:t>✔ Dockerfiles &amp; Compose: </a:t>
            </a:r>
            <a:r>
              <a:rPr b="0">
                <a:solidFill>
                  <a:srgbClr val="111827"/>
                </a:solidFill>
              </a:rPr>
              <a:t>Individual Dockerfiles and working docker-compose.yml.</a:t>
            </a:r>
          </a:p>
          <a:p>
            <a:pPr>
              <a:spcAft>
                <a:spcPts val="600"/>
              </a:spcAft>
              <a:defRPr b="1" sz="1300">
                <a:solidFill>
                  <a:srgbClr val="16A34A"/>
                </a:solidFill>
              </a:defRPr>
            </a:pPr>
            <a:r>
              <a:t>✔ Active Containers: </a:t>
            </a:r>
            <a:r>
              <a:rPr b="0">
                <a:solidFill>
                  <a:srgbClr val="111827"/>
                </a:solidFill>
              </a:rPr>
              <a:t>All containers deployed and verified on ports 8000–8004.</a:t>
            </a:r>
          </a:p>
          <a:p>
            <a:pPr>
              <a:spcAft>
                <a:spcPts val="600"/>
              </a:spcAft>
              <a:defRPr b="1" sz="1300">
                <a:solidFill>
                  <a:srgbClr val="16A34A"/>
                </a:solidFill>
              </a:defRPr>
            </a:pPr>
            <a:r>
              <a:t>✔ Inter-Service Demo: </a:t>
            </a:r>
            <a:r>
              <a:rPr b="0">
                <a:solidFill>
                  <a:srgbClr val="111827"/>
                </a:solidFill>
              </a:rPr>
              <a:t>Verified end-to-end communication and 404 validation.</a:t>
            </a:r>
          </a:p>
          <a:p>
            <a:pPr>
              <a:spcAft>
                <a:spcPts val="600"/>
              </a:spcAft>
              <a:defRPr b="1" sz="1300">
                <a:solidFill>
                  <a:srgbClr val="16A34A"/>
                </a:solidFill>
              </a:defRPr>
            </a:pPr>
            <a:r>
              <a:t>✔ Observation Table &amp; Graphs: </a:t>
            </a:r>
            <a:r>
              <a:rPr b="0">
                <a:solidFill>
                  <a:srgbClr val="111827"/>
                </a:solidFill>
              </a:rPr>
              <a:t>Complete W1–W5 benchmark data and 4 generated plots.</a:t>
            </a:r>
          </a:p>
          <a:p>
            <a:pPr>
              <a:spcAft>
                <a:spcPts val="600"/>
              </a:spcAft>
              <a:defRPr b="1" sz="1300">
                <a:solidFill>
                  <a:srgbClr val="16A34A"/>
                </a:solidFill>
              </a:defRPr>
            </a:pPr>
            <a:r>
              <a:t>✔ Live Dashboard: </a:t>
            </a:r>
            <a:r>
              <a:rPr b="0">
                <a:solidFill>
                  <a:srgbClr val="111827"/>
                </a:solidFill>
              </a:rPr>
              <a:t>Simple, professional UI for evaluator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